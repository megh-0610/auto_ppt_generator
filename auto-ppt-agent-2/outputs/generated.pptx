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23232"/>
                </a:solidFill>
                <a:latin typeface="Cavolini"/>
              </a:defRPr>
            </a:pPr>
            <a:r>
              <a:t>life cycle of a star -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6400800" cy="3657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>
                <a:solidFill>
                  <a:srgbClr val="323232"/>
                </a:solidFill>
                <a:latin typeface="Angsana New"/>
              </a:defRPr>
            </a:pPr>
            <a:r>
              <a:t>Stellar evolution is the process by which a star changes over the course of time — explained clearly</a:t>
            </a:r>
          </a:p>
          <a:p>
            <a:pPr algn="l">
              <a:spcAft>
                <a:spcPts val="1000"/>
              </a:spcAft>
              <a:defRPr sz="2200">
                <a:solidFill>
                  <a:srgbClr val="323232"/>
                </a:solidFill>
                <a:latin typeface="Angsana New"/>
              </a:defRPr>
            </a:pPr>
            <a:r>
              <a:t>Depending on the mass of the star, its lifetime can range from a few million years for the most massive to trillions of years for the least massive, which is considerably longer than the current age of the universe — explained clearly</a:t>
            </a:r>
          </a:p>
          <a:p>
            <a:pPr algn="l">
              <a:spcAft>
                <a:spcPts val="1000"/>
              </a:spcAft>
              <a:defRPr sz="2200">
                <a:solidFill>
                  <a:srgbClr val="323232"/>
                </a:solidFill>
                <a:latin typeface="Angsana New"/>
              </a:defRPr>
            </a:pPr>
            <a:r>
              <a:t>The table shows the lifetimes of stars as a function of their masses — explained clearly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23232"/>
                </a:solidFill>
                <a:latin typeface="Cavolini"/>
              </a:defRPr>
            </a:pPr>
            <a:r>
              <a:t>life cycle of a star -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6400800" cy="3657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>
                <a:solidFill>
                  <a:srgbClr val="323232"/>
                </a:solidFill>
                <a:latin typeface="Angsana New"/>
              </a:defRPr>
            </a:pPr>
            <a:r>
              <a:t>All stars are formed from collapsing clouds of gas and dust, often called nebulae or molecular clouds — explained clearly</a:t>
            </a:r>
          </a:p>
          <a:p>
            <a:pPr algn="l">
              <a:spcAft>
                <a:spcPts val="1000"/>
              </a:spcAft>
              <a:defRPr sz="2200">
                <a:solidFill>
                  <a:srgbClr val="323232"/>
                </a:solidFill>
                <a:latin typeface="Angsana New"/>
              </a:defRPr>
            </a:pPr>
            <a:r>
              <a:t>Over the course of millions of years, these protostars settle down into a state of equilibrium, becoming what is known as a main sequence star — explained clearly</a:t>
            </a:r>
          </a:p>
          <a:p>
            <a:pPr algn="l">
              <a:spcAft>
                <a:spcPts val="1000"/>
              </a:spcAft>
              <a:defRPr sz="2200">
                <a:solidFill>
                  <a:srgbClr val="323232"/>
                </a:solidFill>
                <a:latin typeface="Angsana New"/>
              </a:defRPr>
            </a:pPr>
            <a:r>
              <a:t>Nuclear fusion powers a star for most of its existence — explained clearly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23232"/>
                </a:solidFill>
                <a:latin typeface="Cavolini"/>
              </a:defRPr>
            </a:pPr>
            <a:r>
              <a:t>life cycle of a star -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6400800" cy="3657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>
                <a:solidFill>
                  <a:srgbClr val="323232"/>
                </a:solidFill>
                <a:latin typeface="Angsana New"/>
              </a:defRPr>
            </a:pPr>
            <a:r>
              <a:t>Initially the energy is generated by the fusion of hydrogen atoms at the core of the main-sequence star — explained clearly</a:t>
            </a:r>
          </a:p>
          <a:p>
            <a:pPr algn="l">
              <a:spcAft>
                <a:spcPts val="1000"/>
              </a:spcAft>
              <a:defRPr sz="2200">
                <a:solidFill>
                  <a:srgbClr val="323232"/>
                </a:solidFill>
                <a:latin typeface="Angsana New"/>
              </a:defRPr>
            </a:pPr>
            <a:r>
              <a:t>Later, as the preponderance of atoms at the core becomes helium, stars like the Sun begin to fuse hydrogen along a spherical shell surrounding the core — explained clearly</a:t>
            </a:r>
          </a:p>
          <a:p>
            <a:pPr algn="l">
              <a:spcAft>
                <a:spcPts val="1000"/>
              </a:spcAft>
              <a:defRPr sz="2200">
                <a:solidFill>
                  <a:srgbClr val="323232"/>
                </a:solidFill>
                <a:latin typeface="Angsana New"/>
              </a:defRPr>
            </a:pPr>
            <a:r>
              <a:t>This process causes the star to gradually grow in size, passing through the subgiant stage until it reaches the red-giant phase — explained clearly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23232"/>
                </a:solidFill>
                <a:latin typeface="Cavolini"/>
              </a:defRPr>
            </a:pPr>
            <a:r>
              <a:t>life cycle of a star -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6400800" cy="3657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>
                <a:solidFill>
                  <a:srgbClr val="323232"/>
                </a:solidFill>
                <a:latin typeface="Angsana New"/>
              </a:defRPr>
            </a:pPr>
            <a:r>
              <a:t>Saves time and effort — explained clearly</a:t>
            </a:r>
          </a:p>
          <a:p>
            <a:pPr algn="l">
              <a:spcAft>
                <a:spcPts val="1000"/>
              </a:spcAft>
              <a:defRPr sz="2200">
                <a:solidFill>
                  <a:srgbClr val="323232"/>
                </a:solidFill>
                <a:latin typeface="Angsana New"/>
              </a:defRPr>
            </a:pPr>
            <a:r>
              <a:t>Improves accuracy — explained clearly</a:t>
            </a:r>
          </a:p>
          <a:p>
            <a:pPr algn="l">
              <a:spcAft>
                <a:spcPts val="1000"/>
              </a:spcAft>
              <a:defRPr sz="2200">
                <a:solidFill>
                  <a:srgbClr val="323232"/>
                </a:solidFill>
                <a:latin typeface="Angsana New"/>
              </a:defRPr>
            </a:pPr>
            <a:r>
              <a:t>Reduces manual workload — explained clearly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23232"/>
                </a:solidFill>
                <a:latin typeface="Cavolini"/>
              </a:defRPr>
            </a:pPr>
            <a:r>
              <a:t>life cycle of a star -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6400800" cy="3657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>
                <a:solidFill>
                  <a:srgbClr val="323232"/>
                </a:solidFill>
                <a:latin typeface="Angsana New"/>
              </a:defRPr>
            </a:pPr>
            <a:r>
              <a:t>life cycle of a star plays a major role in modern systems — explained clearly</a:t>
            </a:r>
          </a:p>
          <a:p>
            <a:pPr algn="l">
              <a:spcAft>
                <a:spcPts val="1000"/>
              </a:spcAft>
              <a:defRPr sz="2200">
                <a:solidFill>
                  <a:srgbClr val="323232"/>
                </a:solidFill>
                <a:latin typeface="Angsana New"/>
              </a:defRPr>
            </a:pPr>
            <a:r>
              <a:t>It has strong real-world applications — explained clearly</a:t>
            </a:r>
          </a:p>
          <a:p>
            <a:pPr algn="l">
              <a:spcAft>
                <a:spcPts val="1000"/>
              </a:spcAft>
              <a:defRPr sz="2200">
                <a:solidFill>
                  <a:srgbClr val="323232"/>
                </a:solidFill>
                <a:latin typeface="Angsana New"/>
              </a:defRPr>
            </a:pPr>
            <a:r>
              <a:t>Future scope is very high — explained clearly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